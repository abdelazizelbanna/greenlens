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D6A4F"/>
                </a:solidFill>
              </a:defRPr>
            </a:pPr>
            <a:r>
              <a:t>INTRODUCTION TO ALGORITHMS  |  FINAL PROJECT</a:t>
            </a:r>
          </a:p>
          <a:p>
            <a:pPr>
              <a:spcAft>
                <a:spcPts val="800"/>
              </a:spcAft>
              <a:defRPr sz="4400" b="1">
                <a:solidFill>
                  <a:srgbClr val="1B4332"/>
                </a:solidFill>
              </a:defRPr>
            </a:pPr>
            <a:r>
              <a:t>GreenLens</a:t>
            </a:r>
          </a:p>
          <a:p>
            <a:pPr>
              <a:spcAft>
                <a:spcPts val="1800"/>
              </a:spcAft>
              <a:defRPr sz="1600" b="1">
                <a:solidFill>
                  <a:srgbClr val="2D6A4F"/>
                </a:solidFill>
              </a:defRPr>
            </a:pPr>
            <a:r>
              <a:t>Intelligent Plant Pathology Diagnosis</a:t>
            </a:r>
            <a:br/>
            <a:r>
              <a:t>&amp; Actionable Decision Support</a:t>
            </a:r>
          </a:p>
          <a:p>
            <a:pPr>
              <a:spcAft>
                <a:spcPts val="3600"/>
              </a:spcAft>
              <a:defRPr sz="1200">
                <a:solidFill>
                  <a:srgbClr val="64748B"/>
                </a:solidFill>
              </a:defRPr>
            </a:pPr>
            <a:r>
              <a:t>Deep Learning Classification &amp; Treatment Recommendation</a:t>
            </a:r>
            <a:br/>
            <a:r>
              <a:t>for Sustainable Agriculture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4389120"/>
            <a:ext cx="548640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48056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B4332"/>
                </a:solidFill>
              </a:defRPr>
            </a:pPr>
            <a:r>
              <a:t>Author / Presenter:  Abdelaziz Ahmed Elbanna</a:t>
            </a:r>
          </a:p>
          <a:p>
            <a:pPr>
              <a:spcAft>
                <a:spcPts val="600"/>
              </a:spcAft>
              <a:defRPr sz="1200" b="1">
                <a:solidFill>
                  <a:srgbClr val="2D6A4F"/>
                </a:solidFill>
              </a:defRPr>
            </a:pPr>
            <a:r>
              <a:t>Team:  TerraGreen</a:t>
            </a:r>
          </a:p>
          <a:p>
            <a:pPr>
              <a:spcAft>
                <a:spcPts val="400"/>
              </a:spcAft>
              <a:defRPr sz="1200">
                <a:solidFill>
                  <a:srgbClr val="2D3748"/>
                </a:solidFill>
              </a:defRPr>
            </a:pPr>
            <a:r>
              <a:t>Supervisor:  Dr. Fatma Talaat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Course:  Introduction to Algorithms (Year 3, Semester 1)</a:t>
            </a:r>
          </a:p>
        </p:txBody>
      </p:sp>
      <p:pic>
        <p:nvPicPr>
          <p:cNvPr id="5" name="Picture 4" descr="title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80160"/>
            <a:ext cx="4754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</a:defRPr>
            </a:pPr>
            <a:r>
              <a:t>CONTEXT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Agricultural Pathology: The Problem &amp;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1B4332"/>
                </a:solidFill>
              </a:defRPr>
            </a:pPr>
            <a:r>
              <a:t>Severe Crop Yield Losses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Plant pathogens (fungi, bacteria, viruses) cause an estimated 20% to 40% loss of global agricultural production annually.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Smallholder farmers and amateur growers frequently lack rapid access to plant pathology experts or agricultural extension services.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Early leaf symptoms are often subtle, easily confused with physiological stress or nutrient deficiencies.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146304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64592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1B4332"/>
                </a:solidFill>
              </a:defRPr>
            </a:pPr>
            <a:r>
              <a:t>Chemical Overuse &amp; Impact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Misdiagnosis leads to inappropriate pesticide selection (e.g., applying fungicides against bacterial or viral pathogens).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Excessive and broad-spectrum chemical application contaminates soil biomes and groundwater reservoirs.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Improper chemical regimens accelerate pesticide resistance in pathogen populations and elevate farmer input costs.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1463040"/>
            <a:ext cx="3328416" cy="43891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38744" y="164592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1B4332"/>
                </a:solidFill>
              </a:defRPr>
            </a:pPr>
            <a:r>
              <a:t>The GreenLens Objective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Deliver instant, high-accuracy disease diagnosis from simple mobile leaf photographs.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Formulate an edge-capable deep learning algorithm capable of rapid inference on constrained hardware.</a:t>
            </a:r>
          </a:p>
          <a:p>
            <a:pPr>
              <a:spcAft>
                <a:spcPts val="1200"/>
              </a:spcAft>
              <a:defRPr sz="1150">
                <a:solidFill>
                  <a:srgbClr val="2D3748"/>
                </a:solidFill>
              </a:defRPr>
            </a:pPr>
            <a:r>
              <a:t>- Bridge the gap between detection and action by generating automated, actionable treatment and prevention protocols.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6A4F"/>
                </a:solidFill>
              </a:defRPr>
            </a:pPr>
            <a:r>
              <a:t>Goal: Reduce diagnosis time from days to milliseconds while achieving over 98% diagnostic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</a:defRPr>
            </a:pPr>
            <a:r>
              <a:t>DATA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Dataset Corpus &amp; Exploratory Data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B4332"/>
                </a:solidFill>
              </a:defRPr>
            </a:pPr>
            <a:r>
              <a:t>PlantVillage Benchmark Dataset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</a:defRPr>
            </a:pPr>
            <a:r>
              <a:t>Total Images Cataloged: 20,639 high-resolution leaf images (256x256 RGB).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</a:defRPr>
            </a:pPr>
            <a:r>
              <a:t>Target Pathology Classes: 15 distinct conditions across 3 vital staple crops: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</a:defRPr>
            </a:pPr>
            <a:r>
              <a:t>  - Pepper (Bell): Bacterial Spot, Healthy (2 classes).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</a:defRPr>
            </a:pPr>
            <a:r>
              <a:t>  - Potato: Early Blight, Late Blight, Healthy (3 classes).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</a:defRPr>
            </a:pPr>
            <a:r>
              <a:t>  - Tomato: 8 Disease conditions + Healthy foliage (10 classes).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</a:defRPr>
            </a:pPr>
            <a:r>
              <a:t>Data Distribution: 86.7% diseased specimens, 13.3% healthy baseline leaves.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</a:defRPr>
            </a:pPr>
            <a:r>
              <a:t>Class Cardinality: Ranges from 152 samples (Potato Healthy) to 3,209 samples (Tomato Yellow Leaf Curl Virus).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</a:defRPr>
            </a:pPr>
            <a:r>
              <a:t>Rigorous Partitioning: Stratified 80% Train (16,511), 10% Val (2,064), 10% Test (2,064) ensuring exact class ratios.</a:t>
            </a:r>
          </a:p>
        </p:txBody>
      </p:sp>
      <p:pic>
        <p:nvPicPr>
          <p:cNvPr id="6" name="Picture 5" descr="leaf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3035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Stratified sampling ensures balanced evaluation so that minority disease classes are represented equally in the test 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</a:defRPr>
            </a:pPr>
            <a:r>
              <a:t>SYSTEM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GreenLens Closed-Loop Diagnostic Architecture</a:t>
            </a:r>
          </a:p>
        </p:txBody>
      </p:sp>
      <p:pic>
        <p:nvPicPr>
          <p:cNvPr id="4" name="Picture 3" descr="architec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3977639"/>
            <a:ext cx="3328416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14799"/>
            <a:ext cx="3054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B4332"/>
                </a:solidFill>
              </a:defRPr>
            </a:pPr>
            <a:r>
              <a:t>1. Preprocessing &amp; Augmentation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Geometric Transforms: Random Horizontal &amp; Vertical Flips (p=0.5).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Spatial Scaling: Standardized to 224x224 RGB.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Color Normalization: ImageNet channel mean and variance alignment.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3977639"/>
            <a:ext cx="3328416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4114799"/>
            <a:ext cx="3054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B4332"/>
                </a:solidFill>
              </a:defRPr>
            </a:pPr>
            <a:r>
              <a:t>2. Deep Representation Learning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Pretrained Feature Extractor: MobileNetV2 with inverted residual bottlenecks.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Automatic Mixed Precision (AMP): Fast FP16/FP32 training with low memory usage.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Optimization: AdamW with Cosine Annealing learning rate schedule.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4" y="3977639"/>
            <a:ext cx="3328416" cy="2240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4114799"/>
            <a:ext cx="3054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B4332"/>
                </a:solidFill>
              </a:defRPr>
            </a:pPr>
            <a:r>
              <a:t>3. Agronomic Decision Engine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Clinical Mapping: Instant lookup from predicted class to agronomic regimen.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Three-Tier Protocols: Immediate curative chemical, cultural prevention, and organic bio-control.</a:t>
            </a:r>
          </a:p>
          <a:p>
            <a:pPr>
              <a:spcAft>
                <a:spcPts val="400"/>
              </a:spcAft>
              <a:defRPr sz="1000">
                <a:solidFill>
                  <a:srgbClr val="2D3748"/>
                </a:solidFill>
              </a:defRPr>
            </a:pPr>
            <a:r>
              <a:t>- Actionable Output: Direct confidence score and diagnostic treatment card.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</a:defRPr>
            </a:pPr>
            <a:r>
              <a:t>ALGORITHM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Algorithmic Modeling: From Scratch vs. Transfer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B4332"/>
                </a:solidFill>
              </a:defRPr>
            </a:pPr>
            <a:r>
              <a:t>Model 1: Custom CNN (From Scratch)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Architecture: 4-stage sequential Convolutional network.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Layer Hierarchy: Conv2D(32) -&gt; Conv2D(64) -&gt; Conv2D(128) -&gt; Conv2D(256) with BatchNorm, ReLU, and 2x2 MaxPool.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Classifier Head: AdaptiveAvgPool(4x4) -&gt; Flatten -&gt; Dropout(0.4) -&gt; Dense(256) -&gt; Dropout(0.3) -&gt; Dense(15).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Trainable Parameters: ~1.39 Million parameters.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Inductive Bias: Learned strictly from 16,511 agricultural images without external priors.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Baseline Test Accuracy: 84.25% (Macro F1: 77.47%).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Bottleneck: Prone to lower sensitivity on rare classes (&lt;200 samples).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3891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B4332"/>
                </a:solidFill>
              </a:defRPr>
            </a:pPr>
            <a:r>
              <a:t>Model 2: MobileNetV2 (Transfer Learning)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Pretrained Backbone: ImageNet feature representation (1.4M natural images).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Core Innovation: Depthwise Separable Convolutions &amp; Inverted Residuals with linear bottlenecks.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Algorithmic Efficiency: Reduces computational complexity from O(Dk^2 * M * N * Df^2) to O(Dk^2 * M * Df^2 + M * N * Df^2).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Compute Savings: 8x to 9x fewer multiply-accumulate operations (MACs).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Trainable Parameters: ~2.24 Million parameters (optimized for edge devices).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Convergence Speed: Reaches 98.69% in epoch 1, 99.37% in epoch 2.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Final Test Accuracy: 99.13% across all 15 classes (Macro F1: 99.13%).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6A4F"/>
                </a:solidFill>
              </a:defRPr>
            </a:pPr>
            <a:r>
              <a:t>Key Algorithmic Finding: Transfer learning resolves data scarcity in minority pathology classes by leveraging generalized low-level visual priors.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</a:defRPr>
            </a:pPr>
            <a:r>
              <a:t>RESULTS &amp;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Experimental Evaluation &amp; Clinical Diagnostic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B4332"/>
                </a:solidFill>
              </a:defRPr>
            </a:pPr>
            <a:r>
              <a:t>Unseen Test Set Benchmark (2,064 Samples)</a:t>
            </a:r>
          </a:p>
          <a:p>
            <a:pPr>
              <a:defRPr sz="1000" b="1">
                <a:solidFill>
                  <a:srgbClr val="1B4332"/>
                </a:solidFill>
              </a:defRPr>
            </a:pPr>
            <a:r>
              <a:t>Overall Test Accuracy:    Custom CNN: 84.25%  |  MobileNetV2: 99.13%</a:t>
            </a:r>
          </a:p>
          <a:p>
            <a:pPr>
              <a:defRPr sz="1000" b="0">
                <a:solidFill>
                  <a:srgbClr val="2D3748"/>
                </a:solidFill>
              </a:defRPr>
            </a:pPr>
            <a:r>
              <a:t>Macro-Averaged Precision: Custom CNN: 87.35%  |  MobileNetV2: 99.12%</a:t>
            </a:r>
          </a:p>
          <a:p>
            <a:pPr>
              <a:defRPr sz="1000" b="0">
                <a:solidFill>
                  <a:srgbClr val="2D3748"/>
                </a:solidFill>
              </a:defRPr>
            </a:pPr>
            <a:r>
              <a:t>Macro-Averaged Recall:    Custom CNN: 76.19%  |  MobileNetV2: 99.16%</a:t>
            </a:r>
          </a:p>
          <a:p>
            <a:pPr>
              <a:defRPr sz="1000" b="1">
                <a:solidFill>
                  <a:srgbClr val="1B4332"/>
                </a:solidFill>
              </a:defRPr>
            </a:pPr>
            <a:r>
              <a:t>Macro-Averaged F1-Score:  Custom CNN: 77.47%  |  MobileNetV2: 99.13%</a:t>
            </a:r>
          </a:p>
        </p:txBody>
      </p:sp>
      <p:pic>
        <p:nvPicPr>
          <p:cNvPr id="6" name="Picture 5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5120640" cy="269748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303520" cy="3017520"/>
          </a:xfrm>
          <a:prstGeom prst="rect">
            <a:avLst/>
          </a:prstGeom>
        </p:spPr>
      </p:pic>
      <p:pic>
        <p:nvPicPr>
          <p:cNvPr id="8" name="Picture 7" descr="test_inference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4480560"/>
            <a:ext cx="530352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</a:defRPr>
            </a:pPr>
            <a:r>
              <a:t>SUMMARY &amp;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Conclusion, Algorithmic Takeaways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305409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B4332"/>
                </a:solidFill>
              </a:defRPr>
            </a:pPr>
            <a:r>
              <a:t>Key Project Achievements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Developed GreenLens, an end-to-end plant disease diagnosis pipeline for 15 foliar conditions.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Achieved 99.13% test accuracy and 99.13% macro F1-score across 2,064 unseen test images.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Seamlessly integrated automated diagnostic decision support offering tailored treatment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1463040"/>
            <a:ext cx="3328416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600200"/>
            <a:ext cx="305409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B4332"/>
                </a:solidFill>
              </a:defRPr>
            </a:pPr>
            <a:r>
              <a:t>Algorithmic Insights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Complexity Reduction: Depthwise separable convolution achieves 8-9x FLOP savings, proving ideal for mobile deployment.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Inductive Bias Transfer: Pretrained representations eliminate class imbalance penalties on minority pathology classes.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Convergence Velocity: Reached near-optimal validation performance in just 2 epochs of fine-tuning.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1463040"/>
            <a:ext cx="3328416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F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38744" y="1600200"/>
            <a:ext cx="305409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B4332"/>
                </a:solidFill>
              </a:defRPr>
            </a:pPr>
            <a:r>
              <a:t>Future Roadmap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Edge Mobile App: Package model into ONNX / TFLite for real-time offline field inference.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Multi-Leaf Segmentation: Integrate YOLO/Mask R-CNN to localize multiple diseased leaves per plant.</a:t>
            </a:r>
          </a:p>
          <a:p>
            <a:pPr>
              <a:spcAft>
                <a:spcPts val="600"/>
              </a:spcAft>
              <a:defRPr sz="1050">
                <a:solidFill>
                  <a:srgbClr val="2D3748"/>
                </a:solidFill>
              </a:defRPr>
            </a:pPr>
            <a:r>
              <a:t>- Continuous Learning: Implement active learning pipeline from farmer feedback and verified field samples.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937760"/>
            <a:ext cx="10698480" cy="1280160"/>
          </a:xfrm>
          <a:prstGeom prst="roundRect">
            <a:avLst/>
          </a:prstGeom>
          <a:solidFill>
            <a:srgbClr val="1B4332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98348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200" b="1">
                <a:solidFill>
                  <a:srgbClr val="FFFFFF"/>
                </a:solidFill>
              </a:defRPr>
            </a:pPr>
            <a:r>
              <a:t>Thank You! Questions &amp; Discussion</a:t>
            </a:r>
          </a:p>
          <a:p>
            <a:pPr algn="ctr">
              <a:defRPr sz="1200">
                <a:solidFill>
                  <a:srgbClr val="D8F3DC"/>
                </a:solidFill>
              </a:defRPr>
            </a:pPr>
            <a:r>
              <a:t>GreenLens  |  Team TerraGreen  |  Presenter: Abdelaziz Ahmed Elbanna  |  Supervisor: Dr. Fatma Talaat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